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EF851-5257-4865-BE73-49E01A0B1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4296E9-5B90-4E94-994C-387AF2062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F25EDF-E790-4217-B980-C19157E0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D8A882-2A37-4EED-A59E-1D5C823B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4B81FB-4124-4597-943F-77C3F129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70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DBAC1-160D-4BDA-A629-B4695656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3E07C-7419-4809-9E90-285B02D50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21AECC-9ADC-411E-BEF2-D09B182A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DCA72B-F71A-4BE7-96F3-28AB9811E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50AE59-C1AE-4FBA-A6B6-1CA6122C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089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6A555-A5C3-4CEC-8B4C-BB0A5875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65A278-C66F-40D0-A2F6-0068161D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97B93A-3918-41A6-A683-BE445471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2D485-50AC-4DCB-9CA9-00DD96A1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65C17C-B437-427F-AC39-FF3B2549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6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32082-5841-4617-9863-7524F161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3CD5A-EA4A-42B4-9E12-FB90B7F02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1B01D0-3B1E-4D89-81C9-69CA29C77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9AB975-46E4-41F2-88B0-75CEB1C0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6F5AE8-5DFA-40AE-8E8F-9FEED3DA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E8F623-F29B-4726-AE94-F75C59B0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90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F8DD5-A1C2-4BE4-BE98-137FFE5A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5D7B6C-4A89-4F8E-8CBA-DA235505C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2C6472-E4A5-4D80-B8AB-0EC516A94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5B4000-0B9B-4A87-8E80-3C38FFFB9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957C8E-22CC-4864-B5A6-CB1F1792A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EBAF111-C9BD-46C3-B132-81F32E23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BEAE23-C218-4D98-95D4-F95E9544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1596AB-2B1D-4737-BC1D-7211A2A5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78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AB2AE-C71D-4A9F-9DB1-445F62F01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447FD8-A2B4-44F1-ACD4-FEDCA87C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D0CCE9-95E5-41D6-B997-DEF0E435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FA7E43-EB89-488F-AAA6-04B6AC15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30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DC68E8-30CA-4E59-B8B5-F0A1CEEB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2F6FE9-4DF0-4A99-80FB-BD630927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F1B27-39F5-4267-9906-A8FC84F9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73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1E610-E214-47EF-B278-C7CB0A94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1D5D35-1A93-4A13-9107-F33464391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8203C2-20B6-4738-998E-F8A4C533D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8F6868-6124-40C9-B0F9-C3C39D1EF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89F647-A37D-4C66-99E4-DCA981B7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C5351B-5F2D-4684-9620-23C8DF59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23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07BBA-333B-4EB9-943D-7CC3EF39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6E92AC-849E-4D09-AC32-42DD6A544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F30382-A78C-46F0-B86A-AF646988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6F51EF-369C-4D4A-B1D7-E6088921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9E1FCC-FD4F-4337-B29F-96481E89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649959-70B6-4DC7-85F7-8FE029EE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03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F17F9-3227-46DB-9A54-AB175616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E21E6F-0D63-4636-856A-BC59F0B8E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DF986-BB5E-4018-9EB8-A3B47A90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32C66-8F43-4AF5-937D-2025E040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DE5754-664E-4007-AE53-14CF51EA9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12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B21B0F-B890-4902-B757-161D2E5F7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DE8602-3DBC-4D16-91B9-1DCCC42DF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D51965-6FAD-43F7-8129-2A6EC721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7C4670-21C6-4693-B05F-6A6C90DB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2F204B-DD3C-4CE5-B0A7-34637797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68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2BD53-04C0-41C5-961B-2905EA23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3CBEAB-71AE-4172-A31F-6D3892176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04A9F-0166-4049-B76C-8BBF82BBB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77881-92B1-4C5C-B6C6-8341355DE044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8C134-2FD6-4940-A010-ED49C4BCD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8749FF-717F-4592-95B5-B8CDD67A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09331-3E50-49A7-BBA1-B3AC9FE77E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4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eee8023/covid-chestxray-dataset/tree/maste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1E9295-4ADA-4108-8FA6-971BF123D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57F19B-C99A-438A-B613-788FF7ACA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D47392-1AB3-48BD-A87D-C458B116B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416589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5F15C0-BFE6-4C5F-8753-F83D945FEB6D}"/>
              </a:ext>
            </a:extLst>
          </p:cNvPr>
          <p:cNvSpPr txBox="1"/>
          <p:nvPr/>
        </p:nvSpPr>
        <p:spPr>
          <a:xfrm>
            <a:off x="5185476" y="202186"/>
            <a:ext cx="62082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Инфраструктура </a:t>
            </a:r>
            <a:r>
              <a:rPr lang="en-US" sz="4000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Big Data</a:t>
            </a:r>
            <a:endParaRPr lang="ru-RU" sz="4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ru-RU" sz="24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Цель проекта</a:t>
            </a:r>
            <a:r>
              <a:rPr lang="en-US" sz="24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ru-RU" sz="24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Разработать аналитическую систему для эпидемиологического мониторинга COVID-19 на основе метаданных рентгеновских снимков, используя стек </a:t>
            </a:r>
            <a:r>
              <a:rPr lang="ru-RU" sz="240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rPr>
              <a:t>PySpark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5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1E9295-4ADA-4108-8FA6-971BF123D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57F19B-C99A-438A-B613-788FF7ACA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00A85E-2072-4696-BF1A-882BE5EC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168" y="1"/>
            <a:ext cx="12262276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73F9DC-4694-4D08-BD47-120562477219}"/>
              </a:ext>
            </a:extLst>
          </p:cNvPr>
          <p:cNvSpPr txBox="1"/>
          <p:nvPr/>
        </p:nvSpPr>
        <p:spPr>
          <a:xfrm>
            <a:off x="1147763" y="5470637"/>
            <a:ext cx="6129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* Используется репозиторий </a:t>
            </a:r>
            <a:r>
              <a:rPr lang="en-US" b="1" i="0" u="none" strike="noStrike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COVID-19 Chest X-Ray Dataset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1AF26-1BD1-408A-BC1D-03550AF7629E}"/>
              </a:ext>
            </a:extLst>
          </p:cNvPr>
          <p:cNvSpPr txBox="1"/>
          <p:nvPr/>
        </p:nvSpPr>
        <p:spPr>
          <a:xfrm>
            <a:off x="3652043" y="552715"/>
            <a:ext cx="61293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Архитектура решения</a:t>
            </a: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F73E91BE-14B3-48C0-BFC2-62A965B76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763" y="1846444"/>
            <a:ext cx="10151269" cy="3977470"/>
          </a:xfrm>
        </p:spPr>
        <p:txBody>
          <a:bodyPr>
            <a:normAutofit/>
          </a:bodyPr>
          <a:lstStyle/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1.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Подготовка среды и установка </a:t>
            </a:r>
            <a:r>
              <a:rPr lang="en-US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 </a:t>
            </a:r>
            <a:r>
              <a:rPr lang="en-US" sz="280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PySpark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локально</a:t>
            </a:r>
          </a:p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2. 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Предобработка данных </a:t>
            </a:r>
          </a:p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3.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Анализ качества данных</a:t>
            </a:r>
          </a:p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4.</a:t>
            </a:r>
            <a:r>
              <a:rPr lang="en-US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SQL-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аналитика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Mont"/>
            </a:endParaRPr>
          </a:p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5. 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Обработка в </a:t>
            </a:r>
            <a:r>
              <a:rPr lang="en-US" sz="280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PySpark</a:t>
            </a:r>
            <a:endParaRPr lang="ru-RU" sz="2800" i="0" dirty="0">
              <a:solidFill>
                <a:schemeClr val="accent5">
                  <a:lumMod val="60000"/>
                  <a:lumOff val="40000"/>
                </a:schemeClr>
              </a:solidFill>
              <a:effectLst/>
              <a:latin typeface="Mont"/>
            </a:endParaRPr>
          </a:p>
          <a:p>
            <a:pPr algn="l"/>
            <a:r>
              <a:rPr lang="ru-RU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6. </a:t>
            </a:r>
            <a:r>
              <a:rPr lang="ru-RU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Визуализация</a:t>
            </a:r>
            <a:r>
              <a:rPr lang="en-US" sz="28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3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00A85E-2072-4696-BF1A-882BE5EC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68" y="1"/>
            <a:ext cx="12262276" cy="6858000"/>
          </a:xfrm>
          <a:prstGeom prst="rect">
            <a:avLst/>
          </a:prstGeom>
        </p:spPr>
      </p:pic>
      <p:graphicFrame>
        <p:nvGraphicFramePr>
          <p:cNvPr id="15" name="Таблица 3">
            <a:extLst>
              <a:ext uri="{FF2B5EF4-FFF2-40B4-BE49-F238E27FC236}">
                <a16:creationId xmlns:a16="http://schemas.microsoft.com/office/drawing/2014/main" id="{46FB0A9A-771F-44AF-BF3C-E559E626D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900076"/>
              </p:ext>
            </p:extLst>
          </p:nvPr>
        </p:nvGraphicFramePr>
        <p:xfrm>
          <a:off x="495373" y="688069"/>
          <a:ext cx="10863618" cy="595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809">
                  <a:extLst>
                    <a:ext uri="{9D8B030D-6E8A-4147-A177-3AD203B41FA5}">
                      <a16:colId xmlns:a16="http://schemas.microsoft.com/office/drawing/2014/main" val="2941736139"/>
                    </a:ext>
                  </a:extLst>
                </a:gridCol>
                <a:gridCol w="5431809">
                  <a:extLst>
                    <a:ext uri="{9D8B030D-6E8A-4147-A177-3AD203B41FA5}">
                      <a16:colId xmlns:a16="http://schemas.microsoft.com/office/drawing/2014/main" val="1671475450"/>
                    </a:ext>
                  </a:extLst>
                </a:gridCol>
              </a:tblGrid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Показатель</a:t>
                      </a:r>
                    </a:p>
                  </a:txBody>
                  <a:tcPr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Значение</a:t>
                      </a:r>
                    </a:p>
                  </a:txBody>
                  <a:tcPr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75402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Количество наблюдений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950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458964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Количество исходных колонок 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601128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Случаев </a:t>
                      </a:r>
                      <a:r>
                        <a:rPr lang="en-US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COVID -19</a:t>
                      </a:r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61%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524861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Другие пневмонии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536687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Туберкулез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95146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Иные проблемы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232437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Не найдено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943776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Средний возраст заболевшего 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51 год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91988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Статистика заболевших по полу М/Ж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70/30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160844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Наиболее частый возраст заболевшего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40 лет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35448"/>
                  </a:ext>
                </a:extLst>
              </a:tr>
              <a:tr h="495928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Возрастной </a:t>
                      </a:r>
                      <a:r>
                        <a:rPr lang="ru-RU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диапозон</a:t>
                      </a:r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18-94 года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259238"/>
                  </a:ext>
                </a:extLst>
              </a:tr>
            </a:tbl>
          </a:graphicData>
        </a:graphic>
      </p:graphicFrame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DACF6F-6F7A-4084-AAE9-00918944AD7E}"/>
              </a:ext>
            </a:extLst>
          </p:cNvPr>
          <p:cNvSpPr/>
          <p:nvPr/>
        </p:nvSpPr>
        <p:spPr>
          <a:xfrm>
            <a:off x="495373" y="218794"/>
            <a:ext cx="10863618" cy="479705"/>
          </a:xfrm>
          <a:prstGeom prst="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Основные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245493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00A85E-2072-4696-BF1A-882BE5EC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68" y="1"/>
            <a:ext cx="12262276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BB18633-EB80-4CC7-89F5-09D78468EED2}"/>
              </a:ext>
            </a:extLst>
          </p:cNvPr>
          <p:cNvSpPr txBox="1">
            <a:spLocks/>
          </p:cNvSpPr>
          <p:nvPr/>
        </p:nvSpPr>
        <p:spPr>
          <a:xfrm>
            <a:off x="940734" y="124401"/>
            <a:ext cx="10515600" cy="573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n-lt"/>
              </a:rPr>
              <a:t>Ключевые визуализации</a:t>
            </a:r>
          </a:p>
        </p:txBody>
      </p:sp>
      <p:pic>
        <p:nvPicPr>
          <p:cNvPr id="19" name="Объект 4">
            <a:extLst>
              <a:ext uri="{FF2B5EF4-FFF2-40B4-BE49-F238E27FC236}">
                <a16:creationId xmlns:a16="http://schemas.microsoft.com/office/drawing/2014/main" id="{044F9494-AD23-4C97-ACDC-B8B3A99FB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51" y="750953"/>
            <a:ext cx="4647449" cy="2933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17674C8-1346-44CE-BDD5-96D83D835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633" y="750953"/>
            <a:ext cx="6032310" cy="2933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A9BA2ED-192F-43CA-8FB7-5EA5A490D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34" y="3849683"/>
            <a:ext cx="4613466" cy="2843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4099542-4465-4AFD-872F-B6E726ADA0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758" y="3799899"/>
            <a:ext cx="5848060" cy="29337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01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1E9295-4ADA-4108-8FA6-971BF123D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57F19B-C99A-438A-B613-788FF7ACA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762" y="3169897"/>
            <a:ext cx="8998476" cy="5182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D47392-1AB3-48BD-A87D-C458B116B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416589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7CF23B-3994-4874-A0AB-9272ED6D2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342" y="152400"/>
            <a:ext cx="5425657" cy="4457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AC4A1C-1C0D-4E93-B3AE-85056631F5C0}"/>
              </a:ext>
            </a:extLst>
          </p:cNvPr>
          <p:cNvSpPr txBox="1"/>
          <p:nvPr/>
        </p:nvSpPr>
        <p:spPr>
          <a:xfrm>
            <a:off x="6575841" y="857845"/>
            <a:ext cx="542565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Проект показал, что среди пациентов с COVID-19 преобладают лица от 40 до 60 лет, на втором месте находится группа пожилых людей старше 65 лет. </a:t>
            </a:r>
          </a:p>
          <a:p>
            <a:pPr marL="0" indent="0" algn="just">
              <a:buNone/>
            </a:pPr>
            <a:r>
              <a:rPr lang="ru-RU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Mont"/>
              </a:rPr>
              <a:t>Среди заболевших подавляющее большинство мужчин (70%). Соответственно, в данных имеется дисбаланс, что при построении модели должно быть учтено. </a:t>
            </a:r>
          </a:p>
          <a:p>
            <a:pPr marL="0" indent="0" algn="just">
              <a:buNone/>
            </a:pPr>
            <a:r>
              <a:rPr lang="ru-RU" sz="20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Анализ временных трендов выявил сезонные колебания количества исследований. Так до 2019 года в </a:t>
            </a:r>
            <a:r>
              <a:rPr lang="ru-RU" sz="2000" i="0" dirty="0" err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датасете</a:t>
            </a:r>
            <a:r>
              <a:rPr lang="ru-RU" sz="2000" i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Mont"/>
              </a:rPr>
              <a:t> представлены в основном случаи «другой пневмонии», COVID-19 отсутствует.    - В 2019 году появляются первые единичные случаи COVID.    - Основной объём данных (и по COVID, и по другим диагнозам) относится к 2020 году — периоду активной пандемии. </a:t>
            </a:r>
            <a:endParaRPr lang="ru-RU" sz="2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0E2D3C-62FC-4504-8E95-B5072EC32C29}"/>
              </a:ext>
            </a:extLst>
          </p:cNvPr>
          <p:cNvSpPr txBox="1"/>
          <p:nvPr/>
        </p:nvSpPr>
        <p:spPr>
          <a:xfrm>
            <a:off x="4200262" y="151180"/>
            <a:ext cx="6210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Основные выводы</a:t>
            </a:r>
          </a:p>
        </p:txBody>
      </p:sp>
    </p:spTree>
    <p:extLst>
      <p:ext uri="{BB962C8B-B14F-4D97-AF65-F5344CB8AC3E}">
        <p14:creationId xmlns:p14="http://schemas.microsoft.com/office/powerpoint/2010/main" val="28936373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228</Words>
  <Application>Microsoft Office PowerPoint</Application>
  <PresentationFormat>Широкоэкранный</PresentationFormat>
  <Paragraphs>41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Mont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DS</dc:creator>
  <cp:lastModifiedBy>DS</cp:lastModifiedBy>
  <cp:revision>16</cp:revision>
  <dcterms:created xsi:type="dcterms:W3CDTF">2025-12-06T18:26:15Z</dcterms:created>
  <dcterms:modified xsi:type="dcterms:W3CDTF">2025-12-07T17:16:55Z</dcterms:modified>
</cp:coreProperties>
</file>